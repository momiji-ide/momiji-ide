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663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1371600"/>
            <a:ext cx="5943600" cy="5943600"/>
          </a:xfrm>
          <a:prstGeom prst="ellipse">
            <a:avLst/>
          </a:prstGeom>
          <a:solidFill>
            <a:srgbClr val="E8663D">
              <a:alpha val="12000"/>
            </a:srgbClr>
          </a:solidFill>
          <a:ln w="12700">
            <a:solidFill>
              <a:srgbClr val="E8663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731520"/>
            <a:ext cx="4572000" cy="4572000"/>
          </a:xfrm>
          <a:prstGeom prst="ellipse">
            <a:avLst/>
          </a:prstGeom>
          <a:solidFill>
            <a:srgbClr val="F5A623">
              <a:alpha val="7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6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🍁 MOMIJI IDE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AI-Native IDE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6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Everyone.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first-time coders to creative professionals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Kitsune AI.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v1.2.0  ·  Free &amp; Open Source  ·  Windows · macOS · Linux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66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tools are built for developers.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for everyone else.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965960"/>
            <a:ext cx="2743200" cy="260604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Cursor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94436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but intimidating.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prior coding knowledge.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1965960"/>
            <a:ext cx="2743200" cy="260604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1488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55848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/ Blockly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55848" y="294436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kids, but hits a ceiling.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to real development.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08776" y="1965960"/>
            <a:ext cx="2743200" cy="260604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21488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0216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(ChatGPT)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00216" y="294436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write code, but 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to run or visualize it.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4.6B non-developers globally cannot build software.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Momiji IDE — one platform,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code.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2788920" cy="233172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74520"/>
            <a:ext cx="278892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011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Block Mode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Blockly for beginners &amp; kids.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syntax, just logic.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1874520"/>
            <a:ext cx="2788920" cy="233172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874520"/>
            <a:ext cx="278892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2011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Flow Mode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5848" y="24688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Node-graph visual programming.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designers &amp; game devs.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3056" y="1874520"/>
            <a:ext cx="2788920" cy="233172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874520"/>
            <a:ext cx="2788920" cy="64008"/>
          </a:xfrm>
          <a:prstGeom prst="rect">
            <a:avLst/>
          </a:prstGeom>
          <a:solidFill>
            <a:srgbClr val="E86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300216" y="2011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Code Mode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0216" y="24688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Monaco editor (VS Code engine)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Kitsune AI inline assist.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1A1E2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🦊  Kitsune AI bridges all three modes — explains, generates, and translates between Block → Flow → Code.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Global. Underserved. Growing fast.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105156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64008" cy="10515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270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2.1B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240280" y="14904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Beginners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40280" y="1874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10–25 learning to code globally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Schools, bootcamps, self-learners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8595360" cy="105156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606040"/>
            <a:ext cx="64008" cy="1051560"/>
          </a:xfrm>
          <a:prstGeom prst="rect">
            <a:avLst/>
          </a:prstGeom>
          <a:solidFill>
            <a:srgbClr val="E8663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715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6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850M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240280" y="2679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Professionals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40280" y="3063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devs, animators, designers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tools that speak their language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8595360" cy="105156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10515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9044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1.6B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240280" y="3867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Builders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40280" y="4251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owners, researchers,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who want to automate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$28B+ developer tools + $12B ed-tech coding market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66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developers need.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Simplified for everyone.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2788920" cy="13716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920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🦊 Kitsune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providers: Claude, Gemini,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(free), Ollama local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2788920" cy="13716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920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Block + 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Blockly drag-and-drop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node-graph editor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2788920" cy="13716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920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Monaco 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286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engine: IntelliSense,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multi-cursor, 50+ languages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2788920" cy="13716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474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7 AI Agents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8404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Review, Test Writer,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Debug &amp; more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3337560"/>
            <a:ext cx="2788920" cy="13716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3474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Full Toolbox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8404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Client, SQL Explorer,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Regex, Snippets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337560"/>
            <a:ext cx="2788920" cy="137160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3474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Git + Blame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8404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commit, diff, inline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blame per line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to learn. Pay to power.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01168" y="1371600"/>
            <a:ext cx="2057400" cy="352044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371600"/>
            <a:ext cx="2057400" cy="64008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148132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182880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10896" y="237744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2743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 IDE (Block+Flow+Code)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Kitsune via Groq/Gemini free tier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34381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 AI requests/day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37856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Sandbox environment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" y="4133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support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14016" y="1371600"/>
            <a:ext cx="2057400" cy="352044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14016" y="1371600"/>
            <a:ext cx="2057400" cy="64008"/>
          </a:xfrm>
          <a:prstGeom prst="rect">
            <a:avLst/>
          </a:prstGeom>
          <a:solidFill>
            <a:srgbClr val="E8663D"/>
          </a:solidFill>
          <a:ln/>
        </p:spPr>
      </p:sp>
      <p:sp>
        <p:nvSpPr>
          <p:cNvPr id="17" name="Text 15"/>
          <p:cNvSpPr/>
          <p:nvPr/>
        </p:nvSpPr>
        <p:spPr>
          <a:xfrm>
            <a:off x="2523744" y="148132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23744" y="182880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523744" y="237744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05456" y="2743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Everything in Free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05456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Kitsune powered by Claude Haiku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05456" y="34381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Unlimited AI requests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05456" y="37856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Extended project memory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05456" y="4133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settings sync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26864" y="1371600"/>
            <a:ext cx="2057400" cy="352044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1371600"/>
            <a:ext cx="20574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4736592" y="148132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36592" y="182880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736592" y="237744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seat/mo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18304" y="2743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Everything in Pro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18304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Team workspace &amp; shared memory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18304" y="34381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Custom Kitsune persona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18304" y="37856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Admin dashboard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18304" y="4133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Priority support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39712" y="1371600"/>
            <a:ext cx="2057400" cy="352044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39712" y="1371600"/>
            <a:ext cx="205740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148132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9440" y="182880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949440" y="237744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31152" y="2743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School / bootcamp licensing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31152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Teacher dashboard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31152" y="34381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Student progress tracking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31152" y="37856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Block→Code curriculum path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31152" y="4133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SLA support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Organic growth → Community → Enterprise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88920" cy="342900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78892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36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GitHub stars &amp; organic downloads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7889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 Hunt launch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3375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Reddit: r/learnprogramming, r/gamedev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8862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YouTube shorts: Kitsune in 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788920" cy="342900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417320"/>
            <a:ext cx="2788920" cy="64008"/>
          </a:xfrm>
          <a:prstGeom prst="rect">
            <a:avLst/>
          </a:prstGeom>
          <a:solidFill>
            <a:srgbClr val="E8663D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536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828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2402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Introduce Pro tier at 1,000+ users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7889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Partner: coding bootcamps SEA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3375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Momiji EDU pilot (2–3 schools)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8862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Creator community &amp; plugin ecosystem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417320"/>
            <a:ext cx="2788920" cy="3429000"/>
          </a:xfrm>
          <a:prstGeom prst="rect">
            <a:avLst/>
          </a:prstGeom>
          <a:solidFill>
            <a:srgbClr val="13161E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417320"/>
            <a:ext cx="278892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536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1828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2402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Studio tier for game/creative studios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27889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Kitsune API for third parties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3375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Japan market: anime &amp; game dev industry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8862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Enterprise &amp; corporate training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66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v1.2.0 — Shipped. Live. Growing.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57400" cy="15544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v1.2.0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Release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87168" y="1417320"/>
            <a:ext cx="2057400" cy="15544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78608" y="15544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78608" y="2240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(Win/Mac/Linux/Web)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0016" y="1417320"/>
            <a:ext cx="2057400" cy="15544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91456" y="15544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91456" y="2240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12864" y="1417320"/>
            <a:ext cx="2057400" cy="1554480"/>
          </a:xfrm>
          <a:prstGeom prst="rect">
            <a:avLst/>
          </a:prstGeom>
          <a:solidFill>
            <a:srgbClr val="1A1E2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04304" y="15544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004304" y="2240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needed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MILESTONES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520440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008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 using Claude Code + Electron + React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13048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0080" y="37856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cross-platform desktop app with GitHub Releases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05656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080" y="40782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Block/Flow/Code tri-mode editor — first of its kind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98264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008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Kitsune AI with multi-provider routing (8 providers)</a:t>
            </a:r>
            <a:endParaRPr lang="en-US" sz="1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690872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landing page &amp; v1.2.0 public release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owns the full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spectrum from beginner to pro.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1828800" cy="384048"/>
          </a:xfrm>
          <a:prstGeom prst="rect">
            <a:avLst/>
          </a:prstGeom>
          <a:solidFill>
            <a:srgbClr val="1A1E2A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8105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783080"/>
            <a:ext cx="1554480" cy="384048"/>
          </a:xfrm>
          <a:prstGeom prst="rect">
            <a:avLst/>
          </a:prstGeom>
          <a:solidFill>
            <a:srgbClr val="E8663D"/>
          </a:solidFill>
          <a:ln/>
        </p:spPr>
      </p:sp>
      <p:sp>
        <p:nvSpPr>
          <p:cNvPr id="8" name="Text 6"/>
          <p:cNvSpPr/>
          <p:nvPr/>
        </p:nvSpPr>
        <p:spPr>
          <a:xfrm>
            <a:off x="2221992" y="18105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Momiji IDE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783080"/>
            <a:ext cx="1737360" cy="384048"/>
          </a:xfrm>
          <a:prstGeom prst="rect">
            <a:avLst/>
          </a:prstGeom>
          <a:solidFill>
            <a:srgbClr val="1A1E2A"/>
          </a:solidFill>
          <a:ln/>
        </p:spPr>
      </p:sp>
      <p:sp>
        <p:nvSpPr>
          <p:cNvPr id="10" name="Text 8"/>
          <p:cNvSpPr/>
          <p:nvPr/>
        </p:nvSpPr>
        <p:spPr>
          <a:xfrm>
            <a:off x="3822192" y="18105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Cursor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1783080"/>
            <a:ext cx="1371600" cy="384048"/>
          </a:xfrm>
          <a:prstGeom prst="rect">
            <a:avLst/>
          </a:prstGeom>
          <a:solidFill>
            <a:srgbClr val="1A1E2A"/>
          </a:solidFill>
          <a:ln/>
        </p:spPr>
      </p:sp>
      <p:sp>
        <p:nvSpPr>
          <p:cNvPr id="12" name="Text 10"/>
          <p:cNvSpPr/>
          <p:nvPr/>
        </p:nvSpPr>
        <p:spPr>
          <a:xfrm>
            <a:off x="5605272" y="18105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783080"/>
            <a:ext cx="1371600" cy="384048"/>
          </a:xfrm>
          <a:prstGeom prst="rect">
            <a:avLst/>
          </a:prstGeom>
          <a:solidFill>
            <a:srgbClr val="1A1E2A"/>
          </a:solidFill>
          <a:ln/>
        </p:spPr>
      </p:sp>
      <p:sp>
        <p:nvSpPr>
          <p:cNvPr id="14" name="Text 12"/>
          <p:cNvSpPr/>
          <p:nvPr/>
        </p:nvSpPr>
        <p:spPr>
          <a:xfrm>
            <a:off x="7022592" y="18105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212848"/>
            <a:ext cx="182880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240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Block/Visual Coding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48840" y="2212848"/>
            <a:ext cx="1554480" cy="329184"/>
          </a:xfrm>
          <a:prstGeom prst="rect">
            <a:avLst/>
          </a:prstGeom>
          <a:solidFill>
            <a:srgbClr val="1E2030"/>
          </a:solidFill>
          <a:ln/>
        </p:spPr>
      </p:sp>
      <p:sp>
        <p:nvSpPr>
          <p:cNvPr id="18" name="Text 16"/>
          <p:cNvSpPr/>
          <p:nvPr/>
        </p:nvSpPr>
        <p:spPr>
          <a:xfrm>
            <a:off x="2221992" y="2240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2212848"/>
            <a:ext cx="173736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20" name="Text 18"/>
          <p:cNvSpPr/>
          <p:nvPr/>
        </p:nvSpPr>
        <p:spPr>
          <a:xfrm>
            <a:off x="3822192" y="2240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32120" y="2212848"/>
            <a:ext cx="137160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22" name="Text 20"/>
          <p:cNvSpPr/>
          <p:nvPr/>
        </p:nvSpPr>
        <p:spPr>
          <a:xfrm>
            <a:off x="5605272" y="2240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2212848"/>
            <a:ext cx="137160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24" name="Text 22"/>
          <p:cNvSpPr/>
          <p:nvPr/>
        </p:nvSpPr>
        <p:spPr>
          <a:xfrm>
            <a:off x="7022592" y="2240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2551176"/>
            <a:ext cx="182880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25786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Flow/Node Editor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48840" y="2551176"/>
            <a:ext cx="1554480" cy="329184"/>
          </a:xfrm>
          <a:prstGeom prst="rect">
            <a:avLst/>
          </a:prstGeom>
          <a:solidFill>
            <a:srgbClr val="1E2030"/>
          </a:solidFill>
          <a:ln/>
        </p:spPr>
      </p:sp>
      <p:sp>
        <p:nvSpPr>
          <p:cNvPr id="28" name="Text 26"/>
          <p:cNvSpPr/>
          <p:nvPr/>
        </p:nvSpPr>
        <p:spPr>
          <a:xfrm>
            <a:off x="2221992" y="2578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49040" y="2551176"/>
            <a:ext cx="173736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30" name="Text 28"/>
          <p:cNvSpPr/>
          <p:nvPr/>
        </p:nvSpPr>
        <p:spPr>
          <a:xfrm>
            <a:off x="3822192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32120" y="2551176"/>
            <a:ext cx="137160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32" name="Text 30"/>
          <p:cNvSpPr/>
          <p:nvPr/>
        </p:nvSpPr>
        <p:spPr>
          <a:xfrm>
            <a:off x="5605272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2551176"/>
            <a:ext cx="137160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34" name="Text 32"/>
          <p:cNvSpPr/>
          <p:nvPr/>
        </p:nvSpPr>
        <p:spPr>
          <a:xfrm>
            <a:off x="7022592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2889504"/>
            <a:ext cx="182880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29169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Code Editor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48840" y="2889504"/>
            <a:ext cx="1554480" cy="329184"/>
          </a:xfrm>
          <a:prstGeom prst="rect">
            <a:avLst/>
          </a:prstGeom>
          <a:solidFill>
            <a:srgbClr val="1E2030"/>
          </a:solidFill>
          <a:ln/>
        </p:spPr>
      </p:sp>
      <p:sp>
        <p:nvSpPr>
          <p:cNvPr id="38" name="Text 36"/>
          <p:cNvSpPr/>
          <p:nvPr/>
        </p:nvSpPr>
        <p:spPr>
          <a:xfrm>
            <a:off x="2221992" y="2916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749040" y="2889504"/>
            <a:ext cx="173736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40" name="Text 38"/>
          <p:cNvSpPr/>
          <p:nvPr/>
        </p:nvSpPr>
        <p:spPr>
          <a:xfrm>
            <a:off x="3822192" y="29169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532120" y="2889504"/>
            <a:ext cx="137160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42" name="Text 40"/>
          <p:cNvSpPr/>
          <p:nvPr/>
        </p:nvSpPr>
        <p:spPr>
          <a:xfrm>
            <a:off x="5605272" y="2916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49440" y="2889504"/>
            <a:ext cx="137160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44" name="Text 42"/>
          <p:cNvSpPr/>
          <p:nvPr/>
        </p:nvSpPr>
        <p:spPr>
          <a:xfrm>
            <a:off x="7022592" y="2916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3227832"/>
            <a:ext cx="182880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" y="32552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Built-in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48840" y="3227832"/>
            <a:ext cx="1554480" cy="329184"/>
          </a:xfrm>
          <a:prstGeom prst="rect">
            <a:avLst/>
          </a:prstGeom>
          <a:solidFill>
            <a:srgbClr val="1E2030"/>
          </a:solidFill>
          <a:ln/>
        </p:spPr>
      </p:sp>
      <p:sp>
        <p:nvSpPr>
          <p:cNvPr id="48" name="Text 46"/>
          <p:cNvSpPr/>
          <p:nvPr/>
        </p:nvSpPr>
        <p:spPr>
          <a:xfrm>
            <a:off x="2221992" y="3255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749040" y="3227832"/>
            <a:ext cx="173736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0" name="Text 48"/>
          <p:cNvSpPr/>
          <p:nvPr/>
        </p:nvSpPr>
        <p:spPr>
          <a:xfrm>
            <a:off x="3822192" y="32552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532120" y="3227832"/>
            <a:ext cx="137160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2" name="Text 50"/>
          <p:cNvSpPr/>
          <p:nvPr/>
        </p:nvSpPr>
        <p:spPr>
          <a:xfrm>
            <a:off x="5605272" y="32552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49440" y="3227832"/>
            <a:ext cx="137160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4" name="Text 52"/>
          <p:cNvSpPr/>
          <p:nvPr/>
        </p:nvSpPr>
        <p:spPr>
          <a:xfrm>
            <a:off x="7022592" y="32552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74320" y="3566160"/>
            <a:ext cx="182880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56" name="Text 54"/>
          <p:cNvSpPr/>
          <p:nvPr/>
        </p:nvSpPr>
        <p:spPr>
          <a:xfrm>
            <a:off x="347472" y="3593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AI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148840" y="3566160"/>
            <a:ext cx="1554480" cy="329184"/>
          </a:xfrm>
          <a:prstGeom prst="rect">
            <a:avLst/>
          </a:prstGeom>
          <a:solidFill>
            <a:srgbClr val="1E2030"/>
          </a:solidFill>
          <a:ln/>
        </p:spPr>
      </p:sp>
      <p:sp>
        <p:nvSpPr>
          <p:cNvPr id="58" name="Text 56"/>
          <p:cNvSpPr/>
          <p:nvPr/>
        </p:nvSpPr>
        <p:spPr>
          <a:xfrm>
            <a:off x="2221992" y="3593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749040" y="3566160"/>
            <a:ext cx="173736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60" name="Text 58"/>
          <p:cNvSpPr/>
          <p:nvPr/>
        </p:nvSpPr>
        <p:spPr>
          <a:xfrm>
            <a:off x="3822192" y="3593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532120" y="3566160"/>
            <a:ext cx="137160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62" name="Text 60"/>
          <p:cNvSpPr/>
          <p:nvPr/>
        </p:nvSpPr>
        <p:spPr>
          <a:xfrm>
            <a:off x="5605272" y="3593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949440" y="3566160"/>
            <a:ext cx="137160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64" name="Text 62"/>
          <p:cNvSpPr/>
          <p:nvPr/>
        </p:nvSpPr>
        <p:spPr>
          <a:xfrm>
            <a:off x="7022592" y="3593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74320" y="3904488"/>
            <a:ext cx="182880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6" name="Text 64"/>
          <p:cNvSpPr/>
          <p:nvPr/>
        </p:nvSpPr>
        <p:spPr>
          <a:xfrm>
            <a:off x="347472" y="3931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Local/Offline AI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148840" y="3904488"/>
            <a:ext cx="1554480" cy="329184"/>
          </a:xfrm>
          <a:prstGeom prst="rect">
            <a:avLst/>
          </a:prstGeom>
          <a:solidFill>
            <a:srgbClr val="1E2030"/>
          </a:solidFill>
          <a:ln/>
        </p:spPr>
      </p:sp>
      <p:sp>
        <p:nvSpPr>
          <p:cNvPr id="68" name="Text 66"/>
          <p:cNvSpPr/>
          <p:nvPr/>
        </p:nvSpPr>
        <p:spPr>
          <a:xfrm>
            <a:off x="2221992" y="3931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749040" y="3904488"/>
            <a:ext cx="173736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0" name="Text 68"/>
          <p:cNvSpPr/>
          <p:nvPr/>
        </p:nvSpPr>
        <p:spPr>
          <a:xfrm>
            <a:off x="3822192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532120" y="3904488"/>
            <a:ext cx="137160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2" name="Text 70"/>
          <p:cNvSpPr/>
          <p:nvPr/>
        </p:nvSpPr>
        <p:spPr>
          <a:xfrm>
            <a:off x="5605272" y="3931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949440" y="3904488"/>
            <a:ext cx="137160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4" name="Text 72"/>
          <p:cNvSpPr/>
          <p:nvPr/>
        </p:nvSpPr>
        <p:spPr>
          <a:xfrm>
            <a:off x="7022592" y="3931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74320" y="4242816"/>
            <a:ext cx="182880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76" name="Text 74"/>
          <p:cNvSpPr/>
          <p:nvPr/>
        </p:nvSpPr>
        <p:spPr>
          <a:xfrm>
            <a:off x="347472" y="4270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148840" y="4242816"/>
            <a:ext cx="1554480" cy="329184"/>
          </a:xfrm>
          <a:prstGeom prst="rect">
            <a:avLst/>
          </a:prstGeom>
          <a:solidFill>
            <a:srgbClr val="1E2030"/>
          </a:solidFill>
          <a:ln/>
        </p:spPr>
      </p:sp>
      <p:sp>
        <p:nvSpPr>
          <p:cNvPr id="78" name="Text 76"/>
          <p:cNvSpPr/>
          <p:nvPr/>
        </p:nvSpPr>
        <p:spPr>
          <a:xfrm>
            <a:off x="2221992" y="4270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749040" y="4242816"/>
            <a:ext cx="173736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80" name="Text 78"/>
          <p:cNvSpPr/>
          <p:nvPr/>
        </p:nvSpPr>
        <p:spPr>
          <a:xfrm>
            <a:off x="3822192" y="42702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532120" y="4242816"/>
            <a:ext cx="137160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82" name="Text 80"/>
          <p:cNvSpPr/>
          <p:nvPr/>
        </p:nvSpPr>
        <p:spPr>
          <a:xfrm>
            <a:off x="5605272" y="4270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949440" y="4242816"/>
            <a:ext cx="1371600" cy="329184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84" name="Text 82"/>
          <p:cNvSpPr/>
          <p:nvPr/>
        </p:nvSpPr>
        <p:spPr>
          <a:xfrm>
            <a:off x="7022592" y="4270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274320" y="4581144"/>
            <a:ext cx="182880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6" name="Text 84"/>
          <p:cNvSpPr/>
          <p:nvPr/>
        </p:nvSpPr>
        <p:spPr>
          <a:xfrm>
            <a:off x="347472" y="4608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Non-coder Friendly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2148840" y="4581144"/>
            <a:ext cx="1554480" cy="329184"/>
          </a:xfrm>
          <a:prstGeom prst="rect">
            <a:avLst/>
          </a:prstGeom>
          <a:solidFill>
            <a:srgbClr val="1E2030"/>
          </a:solidFill>
          <a:ln/>
        </p:spPr>
      </p:sp>
      <p:sp>
        <p:nvSpPr>
          <p:cNvPr id="88" name="Text 86"/>
          <p:cNvSpPr/>
          <p:nvPr/>
        </p:nvSpPr>
        <p:spPr>
          <a:xfrm>
            <a:off x="2221992" y="4608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3749040" y="4581144"/>
            <a:ext cx="173736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0" name="Text 88"/>
          <p:cNvSpPr/>
          <p:nvPr/>
        </p:nvSpPr>
        <p:spPr>
          <a:xfrm>
            <a:off x="3822192" y="46085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5532120" y="4581144"/>
            <a:ext cx="137160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2" name="Text 90"/>
          <p:cNvSpPr/>
          <p:nvPr/>
        </p:nvSpPr>
        <p:spPr>
          <a:xfrm>
            <a:off x="5605272" y="4608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6949440" y="4581144"/>
            <a:ext cx="1371600" cy="329184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4" name="Text 92"/>
          <p:cNvSpPr/>
          <p:nvPr/>
        </p:nvSpPr>
        <p:spPr>
          <a:xfrm>
            <a:off x="7022592" y="4608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E8663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663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 in making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for everyone.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seeking seed investment to: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Scale Kitsune AI infrastructure &amp; add premium model routing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25526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Launch Momiji EDU with 10 pilot schools in SEA &amp; Japan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6758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Grow core team: 2 engineers + 1 growth/marketing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0965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Reach 50,000 active users within 12 months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663D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78231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🍁 momiji-ide.github.io/momiji-ide   ·   github.com/momiji-ide   ·   Free download available now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Momiji IDE — Investor Pitch</dc:title>
  <dc:subject>PptxGenJS Presentation</dc:subject>
  <dc:creator>PptxGenJS</dc:creator>
  <cp:lastModifiedBy>PptxGenJS</cp:lastModifiedBy>
  <cp:revision>1</cp:revision>
  <dcterms:created xsi:type="dcterms:W3CDTF">2026-05-19T03:57:34Z</dcterms:created>
  <dcterms:modified xsi:type="dcterms:W3CDTF">2026-05-19T03:57:34Z</dcterms:modified>
</cp:coreProperties>
</file>